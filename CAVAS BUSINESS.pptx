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3"/>
  </p:notesMasterIdLst>
  <p:sldIdLst>
    <p:sldId id="290" r:id="rId2"/>
  </p:sldIdLst>
  <p:sldSz cx="9144000" cy="5143500" type="screen16x9"/>
  <p:notesSz cx="6858000" cy="9144000"/>
  <p:embeddedFontLst>
    <p:embeddedFont>
      <p:font typeface="Roboto" panose="020B0604020202020204" charset="0"/>
      <p:regular r:id="rId4"/>
      <p:bold r:id="rId5"/>
      <p:italic r:id="rId6"/>
      <p:boldItalic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Fira Sans Extra Condensed" panose="020B0604020202020204" charset="0"/>
      <p:regular r:id="rId12"/>
      <p:bold r:id="rId13"/>
      <p:italic r:id="rId14"/>
      <p:boldItalic r:id="rId15"/>
    </p:embeddedFont>
    <p:embeddedFont>
      <p:font typeface="Comic Sans MS" panose="030F0702030302020204" pitchFamily="66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43419353-4101-4F35-B6F9-E57DE2F7BBD1}">
  <a:tblStyle styleId="{43419353-4101-4F35-B6F9-E57DE2F7BB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6" d="100"/>
          <a:sy n="156" d="100"/>
        </p:scale>
        <p:origin x="-372" y="2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3" Type="http://schemas.openxmlformats.org/officeDocument/2006/relationships/notesMaster" Target="notesMasters/notesMaster1.xml"/><Relationship Id="rId21" Type="http://schemas.openxmlformats.org/officeDocument/2006/relationships/viewProps" Target="viewProps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tableStyles" Target="tableStyles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63821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be8009e005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be8009e005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9866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57200" y="1160825"/>
            <a:ext cx="8229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6082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aphic 36">
            <a:extLst>
              <a:ext uri="{FF2B5EF4-FFF2-40B4-BE49-F238E27FC236}">
                <a16:creationId xmlns:a16="http://schemas.microsoft.com/office/drawing/2014/main" xmlns="" id="{87E249A9-5BDA-B071-BEBB-3E09266B3C83}"/>
              </a:ext>
            </a:extLst>
          </p:cNvPr>
          <p:cNvGrpSpPr/>
          <p:nvPr/>
        </p:nvGrpSpPr>
        <p:grpSpPr>
          <a:xfrm flipH="1">
            <a:off x="3094487" y="0"/>
            <a:ext cx="6049513" cy="4838700"/>
            <a:chOff x="920304" y="657759"/>
            <a:chExt cx="5448300" cy="4108649"/>
          </a:xfrm>
          <a:solidFill>
            <a:srgbClr val="F27830"/>
          </a:solidFill>
          <a:effectLst>
            <a:outerShdw blurRad="127000" dist="38100" dir="8100000" algn="tr" rotWithShape="0">
              <a:prstClr val="black">
                <a:alpha val="10000"/>
              </a:prstClr>
            </a:outerShdw>
          </a:effectLst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xmlns="" id="{59B8E2BE-490F-6DCE-8727-37D25AE889B1}"/>
                </a:ext>
              </a:extLst>
            </p:cNvPr>
            <p:cNvSpPr/>
            <p:nvPr/>
          </p:nvSpPr>
          <p:spPr>
            <a:xfrm>
              <a:off x="920304" y="657759"/>
              <a:ext cx="5448300" cy="4108649"/>
            </a:xfrm>
            <a:custGeom>
              <a:avLst/>
              <a:gdLst>
                <a:gd name="connsiteX0" fmla="*/ 0 w 5448300"/>
                <a:gd name="connsiteY0" fmla="*/ 4111792 h 4108649"/>
                <a:gd name="connsiteX1" fmla="*/ 1862614 w 5448300"/>
                <a:gd name="connsiteY1" fmla="*/ 3549325 h 4108649"/>
                <a:gd name="connsiteX2" fmla="*/ 3696367 w 5448300"/>
                <a:gd name="connsiteY2" fmla="*/ 2429623 h 4108649"/>
                <a:gd name="connsiteX3" fmla="*/ 4780121 w 5448300"/>
                <a:gd name="connsiteY3" fmla="*/ 857970 h 4108649"/>
                <a:gd name="connsiteX4" fmla="*/ 5455063 w 5448300"/>
                <a:gd name="connsiteY4" fmla="*/ 4 h 4108649"/>
                <a:gd name="connsiteX5" fmla="*/ 0 w 5448300"/>
                <a:gd name="connsiteY5" fmla="*/ 4 h 4108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48300" h="4108649">
                  <a:moveTo>
                    <a:pt x="0" y="4111792"/>
                  </a:moveTo>
                  <a:cubicBezTo>
                    <a:pt x="458153" y="3274844"/>
                    <a:pt x="1292352" y="3671158"/>
                    <a:pt x="1862614" y="3549325"/>
                  </a:cubicBezTo>
                  <a:cubicBezTo>
                    <a:pt x="2801588" y="3348363"/>
                    <a:pt x="2323433" y="2442463"/>
                    <a:pt x="3696367" y="2429623"/>
                  </a:cubicBezTo>
                  <a:cubicBezTo>
                    <a:pt x="4826413" y="2419066"/>
                    <a:pt x="5147882" y="1961028"/>
                    <a:pt x="4780121" y="857970"/>
                  </a:cubicBezTo>
                  <a:cubicBezTo>
                    <a:pt x="4491419" y="-8936"/>
                    <a:pt x="5455063" y="4"/>
                    <a:pt x="5455063" y="4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F27830">
                <a:lumMod val="40000"/>
                <a:lumOff val="60000"/>
              </a:srgbClr>
            </a:solidFill>
            <a:ln w="9525" cap="flat">
              <a:noFill/>
              <a:prstDash val="solid"/>
              <a:miter/>
            </a:ln>
            <a:effectLst>
              <a:outerShdw blurRad="190500" dist="38100" dir="2700000" algn="tl" rotWithShape="0">
                <a:prstClr val="black">
                  <a:alpha val="3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52C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xmlns="" id="{731B8858-AA78-02E3-B93E-F2BC4C6DB916}"/>
                </a:ext>
              </a:extLst>
            </p:cNvPr>
            <p:cNvSpPr/>
            <p:nvPr userDrawn="1"/>
          </p:nvSpPr>
          <p:spPr>
            <a:xfrm>
              <a:off x="920305" y="657763"/>
              <a:ext cx="5105400" cy="3576047"/>
            </a:xfrm>
            <a:custGeom>
              <a:avLst/>
              <a:gdLst>
                <a:gd name="connsiteX0" fmla="*/ 0 w 5105400"/>
                <a:gd name="connsiteY0" fmla="*/ 3582609 h 3576046"/>
                <a:gd name="connsiteX1" fmla="*/ 1693355 w 5105400"/>
                <a:gd name="connsiteY1" fmla="*/ 3237464 h 3576046"/>
                <a:gd name="connsiteX2" fmla="*/ 3463957 w 5105400"/>
                <a:gd name="connsiteY2" fmla="*/ 2198603 h 3576046"/>
                <a:gd name="connsiteX3" fmla="*/ 4489323 w 5105400"/>
                <a:gd name="connsiteY3" fmla="*/ 900574 h 3576046"/>
                <a:gd name="connsiteX4" fmla="*/ 5112067 w 5105400"/>
                <a:gd name="connsiteY4" fmla="*/ 0 h 3576046"/>
                <a:gd name="connsiteX5" fmla="*/ 0 w 5105400"/>
                <a:gd name="connsiteY5" fmla="*/ 0 h 3576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05400" h="3576046">
                  <a:moveTo>
                    <a:pt x="0" y="3582609"/>
                  </a:moveTo>
                  <a:cubicBezTo>
                    <a:pt x="479393" y="2866163"/>
                    <a:pt x="1158907" y="3351688"/>
                    <a:pt x="1693355" y="3237464"/>
                  </a:cubicBezTo>
                  <a:cubicBezTo>
                    <a:pt x="2573274" y="3049531"/>
                    <a:pt x="2177320" y="2210301"/>
                    <a:pt x="3463957" y="2198603"/>
                  </a:cubicBezTo>
                  <a:cubicBezTo>
                    <a:pt x="4522946" y="2189092"/>
                    <a:pt x="4811745" y="1693772"/>
                    <a:pt x="4489323" y="900574"/>
                  </a:cubicBezTo>
                  <a:cubicBezTo>
                    <a:pt x="4159377" y="88735"/>
                    <a:pt x="5112067" y="0"/>
                    <a:pt x="5112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27830">
                <a:lumMod val="60000"/>
                <a:lumOff val="40000"/>
              </a:srgbClr>
            </a:solidFill>
            <a:ln w="9525" cap="flat">
              <a:noFill/>
              <a:prstDash val="solid"/>
              <a:miter/>
            </a:ln>
            <a:effectLst>
              <a:outerShdw blurRad="190500" dist="38100" dir="2700000" algn="tl" rotWithShape="0">
                <a:prstClr val="black">
                  <a:alpha val="3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52C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xmlns="" id="{647357B8-9C09-3DE4-42A7-5B03D7B1E466}"/>
                </a:ext>
              </a:extLst>
            </p:cNvPr>
            <p:cNvSpPr/>
            <p:nvPr/>
          </p:nvSpPr>
          <p:spPr>
            <a:xfrm>
              <a:off x="929830" y="657763"/>
              <a:ext cx="4667250" cy="3271702"/>
            </a:xfrm>
            <a:custGeom>
              <a:avLst/>
              <a:gdLst>
                <a:gd name="connsiteX0" fmla="*/ 4671537 w 4667250"/>
                <a:gd name="connsiteY0" fmla="*/ 0 h 3271702"/>
                <a:gd name="connsiteX1" fmla="*/ 0 w 4667250"/>
                <a:gd name="connsiteY1" fmla="*/ 0 h 3271702"/>
                <a:gd name="connsiteX2" fmla="*/ 0 w 4667250"/>
                <a:gd name="connsiteY2" fmla="*/ 3273890 h 3271702"/>
                <a:gd name="connsiteX3" fmla="*/ 1766507 w 4667250"/>
                <a:gd name="connsiteY3" fmla="*/ 3109068 h 3271702"/>
                <a:gd name="connsiteX4" fmla="*/ 3497771 w 4667250"/>
                <a:gd name="connsiteY4" fmla="*/ 2009149 h 3271702"/>
                <a:gd name="connsiteX5" fmla="*/ 4151947 w 4667250"/>
                <a:gd name="connsiteY5" fmla="*/ 802899 h 3271702"/>
                <a:gd name="connsiteX6" fmla="*/ 4671537 w 4667250"/>
                <a:gd name="connsiteY6" fmla="*/ 0 h 3271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67250" h="3271702">
                  <a:moveTo>
                    <a:pt x="4671537" y="0"/>
                  </a:moveTo>
                  <a:lnTo>
                    <a:pt x="0" y="0"/>
                  </a:lnTo>
                  <a:lnTo>
                    <a:pt x="0" y="3273890"/>
                  </a:lnTo>
                  <a:cubicBezTo>
                    <a:pt x="438150" y="2619169"/>
                    <a:pt x="1271683" y="3176405"/>
                    <a:pt x="1766507" y="3109068"/>
                  </a:cubicBezTo>
                  <a:cubicBezTo>
                    <a:pt x="2694146" y="2982955"/>
                    <a:pt x="2321909" y="2020086"/>
                    <a:pt x="3497771" y="2009149"/>
                  </a:cubicBezTo>
                  <a:cubicBezTo>
                    <a:pt x="4465415" y="2000113"/>
                    <a:pt x="4398740" y="1545404"/>
                    <a:pt x="4151947" y="802899"/>
                  </a:cubicBezTo>
                  <a:cubicBezTo>
                    <a:pt x="3905155" y="60393"/>
                    <a:pt x="4671537" y="0"/>
                    <a:pt x="4671537" y="0"/>
                  </a:cubicBezTo>
                  <a:close/>
                </a:path>
              </a:pathLst>
            </a:custGeom>
            <a:solidFill>
              <a:srgbClr val="F27830"/>
            </a:solidFill>
            <a:ln w="9525" cap="flat">
              <a:noFill/>
              <a:prstDash val="solid"/>
              <a:miter/>
            </a:ln>
            <a:effectLst>
              <a:outerShdw blurRad="190500" dist="38100" dir="2700000" algn="tl" rotWithShape="0">
                <a:prstClr val="black">
                  <a:alpha val="3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52C3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79" name="Google Shape;379;p27"/>
          <p:cNvSpPr txBox="1">
            <a:spLocks noGrp="1"/>
          </p:cNvSpPr>
          <p:nvPr>
            <p:ph type="title"/>
          </p:nvPr>
        </p:nvSpPr>
        <p:spPr>
          <a:xfrm>
            <a:off x="5051921" y="80492"/>
            <a:ext cx="404382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 dirty="0">
                <a:latin typeface="Comic Sans MS" panose="030F0702030302020204" pitchFamily="66" charset="0"/>
              </a:rPr>
              <a:t>Canvas Business</a:t>
            </a:r>
            <a:endParaRPr sz="3300" dirty="0">
              <a:latin typeface="Comic Sans MS" panose="030F0702030302020204" pitchFamily="66" charset="0"/>
            </a:endParaRPr>
          </a:p>
        </p:txBody>
      </p:sp>
      <p:sp>
        <p:nvSpPr>
          <p:cNvPr id="380" name="Google Shape;380;p27"/>
          <p:cNvSpPr/>
          <p:nvPr/>
        </p:nvSpPr>
        <p:spPr>
          <a:xfrm>
            <a:off x="435439" y="603491"/>
            <a:ext cx="8571490" cy="443790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7"/>
          <p:cNvSpPr/>
          <p:nvPr/>
        </p:nvSpPr>
        <p:spPr>
          <a:xfrm>
            <a:off x="548693" y="1544675"/>
            <a:ext cx="1441357" cy="236895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sz="1100" dirty="0"/>
              <a:t>Equipe de manutenção, </a:t>
            </a:r>
            <a:r>
              <a:rPr lang="pt-BR" sz="1100" dirty="0" smtClean="0"/>
              <a:t>Microsoft, Fornecedores de sensores, TI</a:t>
            </a:r>
            <a:r>
              <a:rPr lang="pt-BR" sz="1100" dirty="0"/>
              <a:t>, gestores de produção.</a:t>
            </a:r>
            <a:endParaRPr sz="1100" dirty="0"/>
          </a:p>
        </p:txBody>
      </p:sp>
      <p:sp>
        <p:nvSpPr>
          <p:cNvPr id="382" name="Google Shape;382;p27"/>
          <p:cNvSpPr/>
          <p:nvPr/>
        </p:nvSpPr>
        <p:spPr>
          <a:xfrm>
            <a:off x="526670" y="1350494"/>
            <a:ext cx="1463380" cy="438926"/>
          </a:xfrm>
          <a:custGeom>
            <a:avLst/>
            <a:gdLst/>
            <a:ahLst/>
            <a:cxnLst/>
            <a:rect l="l" t="t" r="r" b="b"/>
            <a:pathLst>
              <a:path w="5031" h="1766" extrusionOk="0">
                <a:moveTo>
                  <a:pt x="4282" y="0"/>
                </a:moveTo>
                <a:cubicBezTo>
                  <a:pt x="4110" y="0"/>
                  <a:pt x="3935" y="17"/>
                  <a:pt x="3811" y="17"/>
                </a:cubicBezTo>
                <a:cubicBezTo>
                  <a:pt x="3447" y="17"/>
                  <a:pt x="3084" y="26"/>
                  <a:pt x="2724" y="41"/>
                </a:cubicBezTo>
                <a:cubicBezTo>
                  <a:pt x="2015" y="70"/>
                  <a:pt x="1292" y="117"/>
                  <a:pt x="595" y="153"/>
                </a:cubicBezTo>
                <a:cubicBezTo>
                  <a:pt x="456" y="162"/>
                  <a:pt x="299" y="176"/>
                  <a:pt x="220" y="277"/>
                </a:cubicBezTo>
                <a:cubicBezTo>
                  <a:pt x="1" y="546"/>
                  <a:pt x="45" y="1033"/>
                  <a:pt x="98" y="1340"/>
                </a:cubicBezTo>
                <a:cubicBezTo>
                  <a:pt x="175" y="1765"/>
                  <a:pt x="482" y="1712"/>
                  <a:pt x="878" y="1724"/>
                </a:cubicBezTo>
                <a:cubicBezTo>
                  <a:pt x="1189" y="1733"/>
                  <a:pt x="1500" y="1738"/>
                  <a:pt x="1810" y="1738"/>
                </a:cubicBezTo>
                <a:cubicBezTo>
                  <a:pt x="2683" y="1738"/>
                  <a:pt x="3556" y="1701"/>
                  <a:pt x="4425" y="1629"/>
                </a:cubicBezTo>
                <a:cubicBezTo>
                  <a:pt x="4587" y="1618"/>
                  <a:pt x="4765" y="1597"/>
                  <a:pt x="4883" y="1497"/>
                </a:cubicBezTo>
                <a:cubicBezTo>
                  <a:pt x="5019" y="1378"/>
                  <a:pt x="5030" y="1192"/>
                  <a:pt x="5019" y="1027"/>
                </a:cubicBezTo>
                <a:cubicBezTo>
                  <a:pt x="5001" y="782"/>
                  <a:pt x="5001" y="315"/>
                  <a:pt x="4791" y="123"/>
                </a:cubicBezTo>
                <a:cubicBezTo>
                  <a:pt x="4681" y="23"/>
                  <a:pt x="4483" y="0"/>
                  <a:pt x="428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 err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Parceiros</a:t>
            </a:r>
            <a:endParaRPr sz="16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85" name="Google Shape;385;p27"/>
          <p:cNvSpPr/>
          <p:nvPr/>
        </p:nvSpPr>
        <p:spPr>
          <a:xfrm>
            <a:off x="3929102" y="1222809"/>
            <a:ext cx="1374591" cy="269082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pt-BR" sz="1100" dirty="0"/>
              <a:t>Unificar manutenção, engenharia e operação em um sistema digital para reduzir falhas e aumentar a eficiência, usando ferramentas Microsoft já disponíveis.</a:t>
            </a:r>
          </a:p>
        </p:txBody>
      </p:sp>
      <p:sp>
        <p:nvSpPr>
          <p:cNvPr id="386" name="Google Shape;386;p27"/>
          <p:cNvSpPr/>
          <p:nvPr/>
        </p:nvSpPr>
        <p:spPr>
          <a:xfrm>
            <a:off x="3884707" y="746201"/>
            <a:ext cx="1463380" cy="514291"/>
          </a:xfrm>
          <a:custGeom>
            <a:avLst/>
            <a:gdLst/>
            <a:ahLst/>
            <a:cxnLst/>
            <a:rect l="l" t="t" r="r" b="b"/>
            <a:pathLst>
              <a:path w="5031" h="1766" extrusionOk="0">
                <a:moveTo>
                  <a:pt x="4282" y="0"/>
                </a:moveTo>
                <a:cubicBezTo>
                  <a:pt x="4110" y="0"/>
                  <a:pt x="3935" y="17"/>
                  <a:pt x="3811" y="17"/>
                </a:cubicBezTo>
                <a:cubicBezTo>
                  <a:pt x="3447" y="17"/>
                  <a:pt x="3084" y="26"/>
                  <a:pt x="2724" y="41"/>
                </a:cubicBezTo>
                <a:cubicBezTo>
                  <a:pt x="2015" y="70"/>
                  <a:pt x="1292" y="117"/>
                  <a:pt x="595" y="153"/>
                </a:cubicBezTo>
                <a:cubicBezTo>
                  <a:pt x="456" y="162"/>
                  <a:pt x="299" y="176"/>
                  <a:pt x="220" y="277"/>
                </a:cubicBezTo>
                <a:cubicBezTo>
                  <a:pt x="1" y="546"/>
                  <a:pt x="45" y="1033"/>
                  <a:pt x="98" y="1340"/>
                </a:cubicBezTo>
                <a:cubicBezTo>
                  <a:pt x="175" y="1765"/>
                  <a:pt x="482" y="1712"/>
                  <a:pt x="878" y="1724"/>
                </a:cubicBezTo>
                <a:cubicBezTo>
                  <a:pt x="1189" y="1733"/>
                  <a:pt x="1500" y="1738"/>
                  <a:pt x="1810" y="1738"/>
                </a:cubicBezTo>
                <a:cubicBezTo>
                  <a:pt x="2683" y="1738"/>
                  <a:pt x="3556" y="1701"/>
                  <a:pt x="4425" y="1629"/>
                </a:cubicBezTo>
                <a:cubicBezTo>
                  <a:pt x="4587" y="1618"/>
                  <a:pt x="4765" y="1597"/>
                  <a:pt x="4883" y="1497"/>
                </a:cubicBezTo>
                <a:cubicBezTo>
                  <a:pt x="5019" y="1378"/>
                  <a:pt x="5030" y="1192"/>
                  <a:pt x="5019" y="1027"/>
                </a:cubicBezTo>
                <a:cubicBezTo>
                  <a:pt x="5001" y="782"/>
                  <a:pt x="5001" y="315"/>
                  <a:pt x="4791" y="123"/>
                </a:cubicBezTo>
                <a:cubicBezTo>
                  <a:pt x="4681" y="23"/>
                  <a:pt x="4483" y="0"/>
                  <a:pt x="428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 err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Proposta</a:t>
            </a:r>
            <a:r>
              <a:rPr lang="en-GB" sz="16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de </a:t>
            </a:r>
            <a:r>
              <a:rPr lang="en-GB" sz="1600" b="1" dirty="0" err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valor</a:t>
            </a:r>
            <a:endParaRPr sz="16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89" name="Google Shape;389;p27"/>
          <p:cNvSpPr/>
          <p:nvPr/>
        </p:nvSpPr>
        <p:spPr>
          <a:xfrm>
            <a:off x="7582755" y="1393183"/>
            <a:ext cx="1353982" cy="25204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sz="1100" dirty="0"/>
              <a:t>Gestores e técnicos de manutenção.</a:t>
            </a:r>
            <a:endParaRPr sz="1100" dirty="0"/>
          </a:p>
        </p:txBody>
      </p:sp>
      <p:sp>
        <p:nvSpPr>
          <p:cNvPr id="390" name="Google Shape;390;p27"/>
          <p:cNvSpPr/>
          <p:nvPr/>
        </p:nvSpPr>
        <p:spPr>
          <a:xfrm>
            <a:off x="7528056" y="1417542"/>
            <a:ext cx="1463380" cy="438926"/>
          </a:xfrm>
          <a:custGeom>
            <a:avLst/>
            <a:gdLst/>
            <a:ahLst/>
            <a:cxnLst/>
            <a:rect l="l" t="t" r="r" b="b"/>
            <a:pathLst>
              <a:path w="5031" h="1766" extrusionOk="0">
                <a:moveTo>
                  <a:pt x="4282" y="0"/>
                </a:moveTo>
                <a:cubicBezTo>
                  <a:pt x="4110" y="0"/>
                  <a:pt x="3935" y="17"/>
                  <a:pt x="3811" y="17"/>
                </a:cubicBezTo>
                <a:cubicBezTo>
                  <a:pt x="3447" y="17"/>
                  <a:pt x="3084" y="26"/>
                  <a:pt x="2724" y="41"/>
                </a:cubicBezTo>
                <a:cubicBezTo>
                  <a:pt x="2015" y="70"/>
                  <a:pt x="1292" y="117"/>
                  <a:pt x="595" y="153"/>
                </a:cubicBezTo>
                <a:cubicBezTo>
                  <a:pt x="456" y="162"/>
                  <a:pt x="299" y="176"/>
                  <a:pt x="220" y="277"/>
                </a:cubicBezTo>
                <a:cubicBezTo>
                  <a:pt x="1" y="546"/>
                  <a:pt x="45" y="1033"/>
                  <a:pt x="98" y="1340"/>
                </a:cubicBezTo>
                <a:cubicBezTo>
                  <a:pt x="175" y="1765"/>
                  <a:pt x="482" y="1712"/>
                  <a:pt x="878" y="1724"/>
                </a:cubicBezTo>
                <a:cubicBezTo>
                  <a:pt x="1189" y="1733"/>
                  <a:pt x="1500" y="1738"/>
                  <a:pt x="1810" y="1738"/>
                </a:cubicBezTo>
                <a:cubicBezTo>
                  <a:pt x="2683" y="1738"/>
                  <a:pt x="3556" y="1701"/>
                  <a:pt x="4425" y="1629"/>
                </a:cubicBezTo>
                <a:cubicBezTo>
                  <a:pt x="4587" y="1618"/>
                  <a:pt x="4765" y="1597"/>
                  <a:pt x="4883" y="1497"/>
                </a:cubicBezTo>
                <a:cubicBezTo>
                  <a:pt x="5019" y="1378"/>
                  <a:pt x="5030" y="1192"/>
                  <a:pt x="5019" y="1027"/>
                </a:cubicBezTo>
                <a:cubicBezTo>
                  <a:pt x="5001" y="782"/>
                  <a:pt x="5001" y="315"/>
                  <a:pt x="4791" y="123"/>
                </a:cubicBezTo>
                <a:cubicBezTo>
                  <a:pt x="4681" y="23"/>
                  <a:pt x="4483" y="0"/>
                  <a:pt x="428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 err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Clientes</a:t>
            </a:r>
            <a:endParaRPr sz="16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93" name="Google Shape;393;p27"/>
          <p:cNvSpPr/>
          <p:nvPr/>
        </p:nvSpPr>
        <p:spPr>
          <a:xfrm>
            <a:off x="5413248" y="1222809"/>
            <a:ext cx="1978572" cy="12728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4" name="Google Shape;394;p27"/>
          <p:cNvSpPr/>
          <p:nvPr/>
        </p:nvSpPr>
        <p:spPr>
          <a:xfrm>
            <a:off x="5637788" y="783884"/>
            <a:ext cx="1463380" cy="438926"/>
          </a:xfrm>
          <a:custGeom>
            <a:avLst/>
            <a:gdLst/>
            <a:ahLst/>
            <a:cxnLst/>
            <a:rect l="l" t="t" r="r" b="b"/>
            <a:pathLst>
              <a:path w="5031" h="1766" extrusionOk="0">
                <a:moveTo>
                  <a:pt x="4282" y="0"/>
                </a:moveTo>
                <a:cubicBezTo>
                  <a:pt x="4110" y="0"/>
                  <a:pt x="3935" y="17"/>
                  <a:pt x="3811" y="17"/>
                </a:cubicBezTo>
                <a:cubicBezTo>
                  <a:pt x="3447" y="17"/>
                  <a:pt x="3084" y="26"/>
                  <a:pt x="2724" y="41"/>
                </a:cubicBezTo>
                <a:cubicBezTo>
                  <a:pt x="2015" y="70"/>
                  <a:pt x="1292" y="117"/>
                  <a:pt x="595" y="153"/>
                </a:cubicBezTo>
                <a:cubicBezTo>
                  <a:pt x="456" y="162"/>
                  <a:pt x="299" y="176"/>
                  <a:pt x="220" y="277"/>
                </a:cubicBezTo>
                <a:cubicBezTo>
                  <a:pt x="1" y="546"/>
                  <a:pt x="45" y="1033"/>
                  <a:pt x="98" y="1340"/>
                </a:cubicBezTo>
                <a:cubicBezTo>
                  <a:pt x="175" y="1765"/>
                  <a:pt x="482" y="1712"/>
                  <a:pt x="878" y="1724"/>
                </a:cubicBezTo>
                <a:cubicBezTo>
                  <a:pt x="1189" y="1733"/>
                  <a:pt x="1500" y="1738"/>
                  <a:pt x="1810" y="1738"/>
                </a:cubicBezTo>
                <a:cubicBezTo>
                  <a:pt x="2683" y="1738"/>
                  <a:pt x="3556" y="1701"/>
                  <a:pt x="4425" y="1629"/>
                </a:cubicBezTo>
                <a:cubicBezTo>
                  <a:pt x="4587" y="1618"/>
                  <a:pt x="4765" y="1597"/>
                  <a:pt x="4883" y="1497"/>
                </a:cubicBezTo>
                <a:cubicBezTo>
                  <a:pt x="5019" y="1378"/>
                  <a:pt x="5030" y="1192"/>
                  <a:pt x="5019" y="1027"/>
                </a:cubicBezTo>
                <a:cubicBezTo>
                  <a:pt x="5001" y="782"/>
                  <a:pt x="5001" y="315"/>
                  <a:pt x="4791" y="123"/>
                </a:cubicBezTo>
                <a:cubicBezTo>
                  <a:pt x="4681" y="23"/>
                  <a:pt x="4483" y="0"/>
                  <a:pt x="428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 err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Relacionamento</a:t>
            </a:r>
            <a:endParaRPr sz="16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95" name="Google Shape;395;p27"/>
          <p:cNvSpPr txBox="1"/>
          <p:nvPr/>
        </p:nvSpPr>
        <p:spPr>
          <a:xfrm>
            <a:off x="5478205" y="1266807"/>
            <a:ext cx="1782546" cy="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Alertas </a:t>
            </a:r>
            <a:r>
              <a:rPr lang="pt-BR" sz="11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automáticos, Painéis de acompanhamento,  Suporte Interno, Portal </a:t>
            </a:r>
            <a:r>
              <a:rPr lang="pt-BR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integrado para consulta.</a:t>
            </a:r>
            <a:endParaRPr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27"/>
          <p:cNvSpPr/>
          <p:nvPr/>
        </p:nvSpPr>
        <p:spPr>
          <a:xfrm>
            <a:off x="2237180" y="1065130"/>
            <a:ext cx="1603133" cy="10781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sz="1100" dirty="0"/>
              <a:t>Coletar dados, automatizar alertas, gerar </a:t>
            </a:r>
            <a:r>
              <a:rPr lang="pt-BR" sz="1100" dirty="0" smtClean="0"/>
              <a:t>relatórios e identificar gargalos operacionais e de manutenção.</a:t>
            </a:r>
            <a:endParaRPr sz="1100" dirty="0"/>
          </a:p>
        </p:txBody>
      </p:sp>
      <p:sp>
        <p:nvSpPr>
          <p:cNvPr id="397" name="Google Shape;397;p27"/>
          <p:cNvSpPr/>
          <p:nvPr/>
        </p:nvSpPr>
        <p:spPr>
          <a:xfrm>
            <a:off x="2307056" y="640505"/>
            <a:ext cx="1463380" cy="438926"/>
          </a:xfrm>
          <a:custGeom>
            <a:avLst/>
            <a:gdLst/>
            <a:ahLst/>
            <a:cxnLst/>
            <a:rect l="l" t="t" r="r" b="b"/>
            <a:pathLst>
              <a:path w="5031" h="1766" extrusionOk="0">
                <a:moveTo>
                  <a:pt x="4282" y="0"/>
                </a:moveTo>
                <a:cubicBezTo>
                  <a:pt x="4110" y="0"/>
                  <a:pt x="3935" y="17"/>
                  <a:pt x="3811" y="17"/>
                </a:cubicBezTo>
                <a:cubicBezTo>
                  <a:pt x="3447" y="17"/>
                  <a:pt x="3084" y="26"/>
                  <a:pt x="2724" y="41"/>
                </a:cubicBezTo>
                <a:cubicBezTo>
                  <a:pt x="2015" y="70"/>
                  <a:pt x="1292" y="117"/>
                  <a:pt x="595" y="153"/>
                </a:cubicBezTo>
                <a:cubicBezTo>
                  <a:pt x="456" y="162"/>
                  <a:pt x="299" y="176"/>
                  <a:pt x="220" y="277"/>
                </a:cubicBezTo>
                <a:cubicBezTo>
                  <a:pt x="1" y="546"/>
                  <a:pt x="45" y="1033"/>
                  <a:pt x="98" y="1340"/>
                </a:cubicBezTo>
                <a:cubicBezTo>
                  <a:pt x="175" y="1765"/>
                  <a:pt x="482" y="1712"/>
                  <a:pt x="878" y="1724"/>
                </a:cubicBezTo>
                <a:cubicBezTo>
                  <a:pt x="1189" y="1733"/>
                  <a:pt x="1500" y="1738"/>
                  <a:pt x="1810" y="1738"/>
                </a:cubicBezTo>
                <a:cubicBezTo>
                  <a:pt x="2683" y="1738"/>
                  <a:pt x="3556" y="1701"/>
                  <a:pt x="4425" y="1629"/>
                </a:cubicBezTo>
                <a:cubicBezTo>
                  <a:pt x="4587" y="1618"/>
                  <a:pt x="4765" y="1597"/>
                  <a:pt x="4883" y="1497"/>
                </a:cubicBezTo>
                <a:cubicBezTo>
                  <a:pt x="5019" y="1378"/>
                  <a:pt x="5030" y="1192"/>
                  <a:pt x="5019" y="1027"/>
                </a:cubicBezTo>
                <a:cubicBezTo>
                  <a:pt x="5001" y="782"/>
                  <a:pt x="5001" y="315"/>
                  <a:pt x="4791" y="123"/>
                </a:cubicBezTo>
                <a:cubicBezTo>
                  <a:pt x="4681" y="23"/>
                  <a:pt x="4483" y="0"/>
                  <a:pt x="428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 err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Atividades</a:t>
            </a:r>
            <a:endParaRPr sz="16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99" name="Google Shape;399;p27"/>
          <p:cNvSpPr/>
          <p:nvPr/>
        </p:nvSpPr>
        <p:spPr>
          <a:xfrm>
            <a:off x="5413248" y="2838292"/>
            <a:ext cx="1978572" cy="13231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7"/>
          <p:cNvSpPr/>
          <p:nvPr/>
        </p:nvSpPr>
        <p:spPr>
          <a:xfrm>
            <a:off x="5703322" y="2560268"/>
            <a:ext cx="1463380" cy="438926"/>
          </a:xfrm>
          <a:custGeom>
            <a:avLst/>
            <a:gdLst/>
            <a:ahLst/>
            <a:cxnLst/>
            <a:rect l="l" t="t" r="r" b="b"/>
            <a:pathLst>
              <a:path w="5031" h="1766" extrusionOk="0">
                <a:moveTo>
                  <a:pt x="4282" y="0"/>
                </a:moveTo>
                <a:cubicBezTo>
                  <a:pt x="4110" y="0"/>
                  <a:pt x="3935" y="17"/>
                  <a:pt x="3811" y="17"/>
                </a:cubicBezTo>
                <a:cubicBezTo>
                  <a:pt x="3447" y="17"/>
                  <a:pt x="3084" y="26"/>
                  <a:pt x="2724" y="41"/>
                </a:cubicBezTo>
                <a:cubicBezTo>
                  <a:pt x="2015" y="70"/>
                  <a:pt x="1292" y="117"/>
                  <a:pt x="595" y="153"/>
                </a:cubicBezTo>
                <a:cubicBezTo>
                  <a:pt x="456" y="162"/>
                  <a:pt x="299" y="176"/>
                  <a:pt x="220" y="277"/>
                </a:cubicBezTo>
                <a:cubicBezTo>
                  <a:pt x="1" y="546"/>
                  <a:pt x="45" y="1033"/>
                  <a:pt x="98" y="1340"/>
                </a:cubicBezTo>
                <a:cubicBezTo>
                  <a:pt x="175" y="1765"/>
                  <a:pt x="482" y="1712"/>
                  <a:pt x="878" y="1724"/>
                </a:cubicBezTo>
                <a:cubicBezTo>
                  <a:pt x="1189" y="1733"/>
                  <a:pt x="1500" y="1738"/>
                  <a:pt x="1810" y="1738"/>
                </a:cubicBezTo>
                <a:cubicBezTo>
                  <a:pt x="2683" y="1738"/>
                  <a:pt x="3556" y="1701"/>
                  <a:pt x="4425" y="1629"/>
                </a:cubicBezTo>
                <a:cubicBezTo>
                  <a:pt x="4587" y="1618"/>
                  <a:pt x="4765" y="1597"/>
                  <a:pt x="4883" y="1497"/>
                </a:cubicBezTo>
                <a:cubicBezTo>
                  <a:pt x="5019" y="1378"/>
                  <a:pt x="5030" y="1192"/>
                  <a:pt x="5019" y="1027"/>
                </a:cubicBezTo>
                <a:cubicBezTo>
                  <a:pt x="5001" y="782"/>
                  <a:pt x="5001" y="315"/>
                  <a:pt x="4791" y="123"/>
                </a:cubicBezTo>
                <a:cubicBezTo>
                  <a:pt x="4681" y="23"/>
                  <a:pt x="4483" y="0"/>
                  <a:pt x="428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 err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Canais</a:t>
            </a:r>
            <a:endParaRPr sz="16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01" name="Google Shape;401;p27"/>
          <p:cNvSpPr txBox="1"/>
          <p:nvPr/>
        </p:nvSpPr>
        <p:spPr>
          <a:xfrm>
            <a:off x="5478205" y="2955804"/>
            <a:ext cx="1913615" cy="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pt-BR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Apresentações </a:t>
            </a:r>
            <a:r>
              <a:rPr lang="pt-BR" sz="10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internas, Workshops </a:t>
            </a:r>
            <a:r>
              <a:rPr lang="pt-BR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 </a:t>
            </a:r>
            <a:r>
              <a:rPr lang="pt-BR" sz="10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treinamentos, Divulgação </a:t>
            </a:r>
            <a:r>
              <a:rPr lang="pt-BR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via intranet corporativa e Microsoft </a:t>
            </a:r>
            <a:r>
              <a:rPr lang="pt-BR" sz="1000" dirty="0" err="1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Teams</a:t>
            </a:r>
            <a:r>
              <a:rPr lang="pt-BR" sz="10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Demonstrações práticas, Relatórios </a:t>
            </a:r>
            <a:r>
              <a:rPr lang="pt-BR" sz="1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 </a:t>
            </a:r>
            <a:r>
              <a:rPr lang="pt-BR" sz="1000" dirty="0" err="1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dashboards</a:t>
            </a:r>
            <a:r>
              <a:rPr lang="pt-BR" sz="1000" dirty="0" smtClean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2237180" y="2650118"/>
            <a:ext cx="1603133" cy="12635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sz="1100" dirty="0"/>
              <a:t>Ferramentas </a:t>
            </a:r>
            <a:r>
              <a:rPr lang="pt-BR" sz="1100" dirty="0" smtClean="0"/>
              <a:t>Microsoft, Sensores para </a:t>
            </a:r>
            <a:r>
              <a:rPr lang="pt-BR" sz="1100" dirty="0"/>
              <a:t>monitoramento</a:t>
            </a:r>
          </a:p>
          <a:p>
            <a:r>
              <a:rPr lang="pt-BR" sz="1100" dirty="0"/>
              <a:t>Equipe interna para configuração e treinamento</a:t>
            </a:r>
          </a:p>
        </p:txBody>
      </p:sp>
      <p:sp>
        <p:nvSpPr>
          <p:cNvPr id="403" name="Google Shape;403;p27"/>
          <p:cNvSpPr/>
          <p:nvPr/>
        </p:nvSpPr>
        <p:spPr>
          <a:xfrm>
            <a:off x="2341994" y="2216948"/>
            <a:ext cx="1393504" cy="433170"/>
          </a:xfrm>
          <a:custGeom>
            <a:avLst/>
            <a:gdLst/>
            <a:ahLst/>
            <a:cxnLst/>
            <a:rect l="l" t="t" r="r" b="b"/>
            <a:pathLst>
              <a:path w="5031" h="1766" extrusionOk="0">
                <a:moveTo>
                  <a:pt x="4282" y="0"/>
                </a:moveTo>
                <a:cubicBezTo>
                  <a:pt x="4110" y="0"/>
                  <a:pt x="3935" y="17"/>
                  <a:pt x="3811" y="17"/>
                </a:cubicBezTo>
                <a:cubicBezTo>
                  <a:pt x="3447" y="17"/>
                  <a:pt x="3084" y="26"/>
                  <a:pt x="2724" y="41"/>
                </a:cubicBezTo>
                <a:cubicBezTo>
                  <a:pt x="2015" y="70"/>
                  <a:pt x="1292" y="117"/>
                  <a:pt x="595" y="153"/>
                </a:cubicBezTo>
                <a:cubicBezTo>
                  <a:pt x="456" y="162"/>
                  <a:pt x="299" y="176"/>
                  <a:pt x="220" y="277"/>
                </a:cubicBezTo>
                <a:cubicBezTo>
                  <a:pt x="1" y="546"/>
                  <a:pt x="45" y="1033"/>
                  <a:pt x="98" y="1340"/>
                </a:cubicBezTo>
                <a:cubicBezTo>
                  <a:pt x="175" y="1765"/>
                  <a:pt x="482" y="1712"/>
                  <a:pt x="878" y="1724"/>
                </a:cubicBezTo>
                <a:cubicBezTo>
                  <a:pt x="1189" y="1733"/>
                  <a:pt x="1500" y="1738"/>
                  <a:pt x="1810" y="1738"/>
                </a:cubicBezTo>
                <a:cubicBezTo>
                  <a:pt x="2683" y="1738"/>
                  <a:pt x="3556" y="1701"/>
                  <a:pt x="4425" y="1629"/>
                </a:cubicBezTo>
                <a:cubicBezTo>
                  <a:pt x="4587" y="1618"/>
                  <a:pt x="4765" y="1597"/>
                  <a:pt x="4883" y="1497"/>
                </a:cubicBezTo>
                <a:cubicBezTo>
                  <a:pt x="5019" y="1378"/>
                  <a:pt x="5030" y="1192"/>
                  <a:pt x="5019" y="1027"/>
                </a:cubicBezTo>
                <a:cubicBezTo>
                  <a:pt x="5001" y="782"/>
                  <a:pt x="5001" y="315"/>
                  <a:pt x="4791" y="123"/>
                </a:cubicBezTo>
                <a:cubicBezTo>
                  <a:pt x="4681" y="23"/>
                  <a:pt x="4483" y="0"/>
                  <a:pt x="428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 err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Recursos</a:t>
            </a:r>
            <a:endParaRPr sz="16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08" name="Google Shape;408;p27"/>
          <p:cNvSpPr/>
          <p:nvPr/>
        </p:nvSpPr>
        <p:spPr>
          <a:xfrm>
            <a:off x="2078850" y="4161476"/>
            <a:ext cx="2422200" cy="7654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sz="1100" dirty="0"/>
              <a:t>Licenças </a:t>
            </a:r>
            <a:r>
              <a:rPr lang="pt-BR" sz="1100" dirty="0" smtClean="0"/>
              <a:t>Microsoft, Manutenção e atualização dos fluxos automáticos, Configuração inicial de integração e sensores.</a:t>
            </a:r>
            <a:endParaRPr sz="1100" dirty="0"/>
          </a:p>
        </p:txBody>
      </p:sp>
      <p:sp>
        <p:nvSpPr>
          <p:cNvPr id="409" name="Google Shape;409;p27"/>
          <p:cNvSpPr/>
          <p:nvPr/>
        </p:nvSpPr>
        <p:spPr>
          <a:xfrm>
            <a:off x="6180720" y="4211467"/>
            <a:ext cx="2422200" cy="7154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sz="1100" dirty="0"/>
              <a:t>Economia com redução de </a:t>
            </a:r>
            <a:r>
              <a:rPr lang="pt-BR" sz="1100" dirty="0" smtClean="0"/>
              <a:t>paradas, Ganho </a:t>
            </a:r>
            <a:r>
              <a:rPr lang="pt-BR" sz="1100" dirty="0"/>
              <a:t>de produtividade e </a:t>
            </a:r>
            <a:r>
              <a:rPr lang="pt-BR" sz="1100" dirty="0" smtClean="0"/>
              <a:t>eficiência, Eliminação </a:t>
            </a:r>
            <a:r>
              <a:rPr lang="pt-BR" sz="1100" dirty="0"/>
              <a:t>de custos com softwares </a:t>
            </a:r>
            <a:r>
              <a:rPr lang="pt-BR" sz="1100" dirty="0" smtClean="0"/>
              <a:t>externos.</a:t>
            </a:r>
            <a:endParaRPr sz="1100" dirty="0"/>
          </a:p>
        </p:txBody>
      </p:sp>
      <p:sp>
        <p:nvSpPr>
          <p:cNvPr id="410" name="Google Shape;410;p27"/>
          <p:cNvSpPr/>
          <p:nvPr/>
        </p:nvSpPr>
        <p:spPr>
          <a:xfrm>
            <a:off x="615470" y="4324729"/>
            <a:ext cx="1463380" cy="438926"/>
          </a:xfrm>
          <a:custGeom>
            <a:avLst/>
            <a:gdLst/>
            <a:ahLst/>
            <a:cxnLst/>
            <a:rect l="l" t="t" r="r" b="b"/>
            <a:pathLst>
              <a:path w="5031" h="1766" extrusionOk="0">
                <a:moveTo>
                  <a:pt x="4282" y="0"/>
                </a:moveTo>
                <a:cubicBezTo>
                  <a:pt x="4110" y="0"/>
                  <a:pt x="3935" y="17"/>
                  <a:pt x="3811" y="17"/>
                </a:cubicBezTo>
                <a:cubicBezTo>
                  <a:pt x="3447" y="17"/>
                  <a:pt x="3084" y="26"/>
                  <a:pt x="2724" y="41"/>
                </a:cubicBezTo>
                <a:cubicBezTo>
                  <a:pt x="2015" y="70"/>
                  <a:pt x="1292" y="117"/>
                  <a:pt x="595" y="153"/>
                </a:cubicBezTo>
                <a:cubicBezTo>
                  <a:pt x="456" y="162"/>
                  <a:pt x="299" y="176"/>
                  <a:pt x="220" y="277"/>
                </a:cubicBezTo>
                <a:cubicBezTo>
                  <a:pt x="1" y="546"/>
                  <a:pt x="45" y="1033"/>
                  <a:pt x="98" y="1340"/>
                </a:cubicBezTo>
                <a:cubicBezTo>
                  <a:pt x="175" y="1765"/>
                  <a:pt x="482" y="1712"/>
                  <a:pt x="878" y="1724"/>
                </a:cubicBezTo>
                <a:cubicBezTo>
                  <a:pt x="1189" y="1733"/>
                  <a:pt x="1500" y="1738"/>
                  <a:pt x="1810" y="1738"/>
                </a:cubicBezTo>
                <a:cubicBezTo>
                  <a:pt x="2683" y="1738"/>
                  <a:pt x="3556" y="1701"/>
                  <a:pt x="4425" y="1629"/>
                </a:cubicBezTo>
                <a:cubicBezTo>
                  <a:pt x="4587" y="1618"/>
                  <a:pt x="4765" y="1597"/>
                  <a:pt x="4883" y="1497"/>
                </a:cubicBezTo>
                <a:cubicBezTo>
                  <a:pt x="5019" y="1378"/>
                  <a:pt x="5030" y="1192"/>
                  <a:pt x="5019" y="1027"/>
                </a:cubicBezTo>
                <a:cubicBezTo>
                  <a:pt x="5001" y="782"/>
                  <a:pt x="5001" y="315"/>
                  <a:pt x="4791" y="123"/>
                </a:cubicBezTo>
                <a:cubicBezTo>
                  <a:pt x="4681" y="23"/>
                  <a:pt x="4483" y="0"/>
                  <a:pt x="428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Custos</a:t>
            </a:r>
            <a:endParaRPr sz="16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11" name="Google Shape;411;p27"/>
          <p:cNvSpPr/>
          <p:nvPr/>
        </p:nvSpPr>
        <p:spPr>
          <a:xfrm>
            <a:off x="4746515" y="4349724"/>
            <a:ext cx="1463380" cy="438926"/>
          </a:xfrm>
          <a:custGeom>
            <a:avLst/>
            <a:gdLst/>
            <a:ahLst/>
            <a:cxnLst/>
            <a:rect l="l" t="t" r="r" b="b"/>
            <a:pathLst>
              <a:path w="5031" h="1766" extrusionOk="0">
                <a:moveTo>
                  <a:pt x="4282" y="0"/>
                </a:moveTo>
                <a:cubicBezTo>
                  <a:pt x="4110" y="0"/>
                  <a:pt x="3935" y="17"/>
                  <a:pt x="3811" y="17"/>
                </a:cubicBezTo>
                <a:cubicBezTo>
                  <a:pt x="3447" y="17"/>
                  <a:pt x="3084" y="26"/>
                  <a:pt x="2724" y="41"/>
                </a:cubicBezTo>
                <a:cubicBezTo>
                  <a:pt x="2015" y="70"/>
                  <a:pt x="1292" y="117"/>
                  <a:pt x="595" y="153"/>
                </a:cubicBezTo>
                <a:cubicBezTo>
                  <a:pt x="456" y="162"/>
                  <a:pt x="299" y="176"/>
                  <a:pt x="220" y="277"/>
                </a:cubicBezTo>
                <a:cubicBezTo>
                  <a:pt x="1" y="546"/>
                  <a:pt x="45" y="1033"/>
                  <a:pt x="98" y="1340"/>
                </a:cubicBezTo>
                <a:cubicBezTo>
                  <a:pt x="175" y="1765"/>
                  <a:pt x="482" y="1712"/>
                  <a:pt x="878" y="1724"/>
                </a:cubicBezTo>
                <a:cubicBezTo>
                  <a:pt x="1189" y="1733"/>
                  <a:pt x="1500" y="1738"/>
                  <a:pt x="1810" y="1738"/>
                </a:cubicBezTo>
                <a:cubicBezTo>
                  <a:pt x="2683" y="1738"/>
                  <a:pt x="3556" y="1701"/>
                  <a:pt x="4425" y="1629"/>
                </a:cubicBezTo>
                <a:cubicBezTo>
                  <a:pt x="4587" y="1618"/>
                  <a:pt x="4765" y="1597"/>
                  <a:pt x="4883" y="1497"/>
                </a:cubicBezTo>
                <a:cubicBezTo>
                  <a:pt x="5019" y="1378"/>
                  <a:pt x="5030" y="1192"/>
                  <a:pt x="5019" y="1027"/>
                </a:cubicBezTo>
                <a:cubicBezTo>
                  <a:pt x="5001" y="782"/>
                  <a:pt x="5001" y="315"/>
                  <a:pt x="4791" y="123"/>
                </a:cubicBezTo>
                <a:cubicBezTo>
                  <a:pt x="4681" y="23"/>
                  <a:pt x="4483" y="0"/>
                  <a:pt x="428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 err="1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Receitas</a:t>
            </a:r>
            <a:endParaRPr sz="1600" b="1" dirty="0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D5FF1F97-8B50-D7E7-0BE9-699395077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39" y="48825"/>
            <a:ext cx="2312495" cy="964251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7085" y="603491"/>
            <a:ext cx="1349844" cy="422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623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nvas Business Model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BEBEB"/>
      </a:lt2>
      <a:accent1>
        <a:srgbClr val="FF7B68"/>
      </a:accent1>
      <a:accent2>
        <a:srgbClr val="0B83C2"/>
      </a:accent2>
      <a:accent3>
        <a:srgbClr val="01B4C4"/>
      </a:accent3>
      <a:accent4>
        <a:srgbClr val="4BBCDC"/>
      </a:accent4>
      <a:accent5>
        <a:srgbClr val="096D77"/>
      </a:accent5>
      <a:accent6>
        <a:srgbClr val="E9BD3B"/>
      </a:accent6>
      <a:hlink>
        <a:srgbClr val="FF7B6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160</Words>
  <Application>Microsoft Office PowerPoint</Application>
  <PresentationFormat>Apresentação na tela (16:9)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Roboto</vt:lpstr>
      <vt:lpstr>Calibri</vt:lpstr>
      <vt:lpstr>Fira Sans Extra Condensed</vt:lpstr>
      <vt:lpstr>Comic Sans MS</vt:lpstr>
      <vt:lpstr>Canvas Business Model Infographics by Slidesgo</vt:lpstr>
      <vt:lpstr>Canvas Business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Canvas Business Model Infographics</dc:title>
  <dc:creator>JULYANA CARVALHO LEITE</dc:creator>
  <cp:lastModifiedBy>manutencao</cp:lastModifiedBy>
  <cp:revision>9</cp:revision>
  <dcterms:modified xsi:type="dcterms:W3CDTF">2025-11-06T00:40:17Z</dcterms:modified>
</cp:coreProperties>
</file>